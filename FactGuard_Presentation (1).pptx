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3698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ULAKITH-45/Factguard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457200"/>
            <a:ext cx="1463040" cy="1463040"/>
          </a:xfrm>
          <a:prstGeom prst="ellipse">
            <a:avLst/>
          </a:prstGeom>
          <a:solidFill>
            <a:srgbClr val="0E9E8F">
              <a:alpha val="20000"/>
            </a:srgbClr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43800" y="685800"/>
            <a:ext cx="1005840" cy="1005840"/>
          </a:xfrm>
          <a:prstGeom prst="ellipse">
            <a:avLst/>
          </a:prstGeom>
          <a:solidFill>
            <a:srgbClr val="0E9E8F">
              <a:alpha val="40000"/>
            </a:srgbClr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FACTGUARD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Fake News Detection System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4114800" cy="36576"/>
          </a:xfrm>
          <a:prstGeom prst="rect">
            <a:avLst/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Milestone-2 Report  |  Implementation &amp; Results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5303520" cy="1691640"/>
          </a:xfrm>
          <a:prstGeom prst="rect">
            <a:avLst/>
          </a:prstGeom>
          <a:solidFill>
            <a:srgbClr val="162236"/>
          </a:solidFill>
          <a:ln w="12700">
            <a:solidFill>
              <a:srgbClr val="0E9E8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28529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 S3-T16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E23CSEU2018  •  Saurabh Kumar Singh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5021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E23CSEU2041  •  Abhishek Khaiwal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8039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E23CSEU2011  •  Pulkith Sai Raj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1056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E23CSEU2020  •  Khoushik Vadde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2788920"/>
            <a:ext cx="2743200" cy="1691640"/>
          </a:xfrm>
          <a:prstGeom prst="rect">
            <a:avLst/>
          </a:prstGeom>
          <a:solidFill>
            <a:srgbClr val="162236"/>
          </a:solidFill>
          <a:ln w="12700">
            <a:solidFill>
              <a:srgbClr val="0E9E8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63640" y="2852928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CSET419 – Generative AI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Susmita Das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Bennett University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50749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8D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r>
              <a:rPr lang="en-US" sz="900" dirty="0">
                <a:solidFill>
                  <a:srgbClr val="8DA8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https://github.com/PULAKITH-45/Factguard</a:t>
            </a:r>
            <a:r>
              <a:rPr lang="en-US" sz="900" dirty="0">
                <a:solidFill>
                  <a:srgbClr val="8D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Individual Contributions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S3-T16  |  Role Distribution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062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E9E8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4206240" cy="54864"/>
          </a:xfrm>
          <a:prstGeom prst="rect">
            <a:avLst/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887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Saurabh Kumar Singh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E23CSEU2018  |  Backend &amp; API Development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719072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FastAPI REST API design &amp; implementation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984248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Pydantic input validation &amp; CORS setup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249424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API endpoint testing &amp; benchmarking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514600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Server deployment &amp; configuration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42062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97280"/>
            <a:ext cx="42062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1887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Abhishek Khaiwal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46304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E23CSEU2041  |  ML Model &amp; Training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92040" y="1719072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BERT fine-tuning &amp; hyperparameter tuning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92040" y="1984248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Training pipeline (AdamW, mixed precision)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92040" y="2249424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Model evaluation &amp; metrics computation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92040" y="2514600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Confusion matrix &amp; loss curve analysis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063240"/>
            <a:ext cx="42062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063240"/>
            <a:ext cx="420624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1546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Pulkith Sai Raj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342900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E23CSEU2011  |  Data &amp; Explainability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3685032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Dataset preprocessing &amp; tokenization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1480" y="3950208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SHAP integration &amp; explainability layer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11480" y="4215384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Token importance analysis &amp; visualization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11480" y="4480560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Report writing &amp; documentation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063240"/>
            <a:ext cx="42062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063240"/>
            <a:ext cx="420624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1546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Khoushik Vadde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92040" y="342900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E23CSEU2020  |  Frontend &amp; Integration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92040" y="3685032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HTML5/CSS3/JS frontend development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92040" y="3950208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API integration via fetch()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92040" y="4215384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Verdict badge &amp; SHAP token UI design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92040" y="4480560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End-to-end system testing &amp; GitHub commits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Automated Fake News Detection Matters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914400"/>
          </a:xfrm>
          <a:prstGeom prst="rect">
            <a:avLst/>
          </a:prstGeom>
          <a:solidFill>
            <a:srgbClr val="162236"/>
          </a:solidFill>
          <a:ln w="12700">
            <a:solidFill>
              <a:srgbClr val="0E9E8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spreads 6× faster than real news on social media and has influenced elections, vaccine hesitancy, financial markets, and social cohesion worldwide.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2103120"/>
            <a:ext cx="2697480" cy="2057400"/>
          </a:xfrm>
          <a:prstGeom prst="rect">
            <a:avLst/>
          </a:prstGeom>
          <a:solidFill>
            <a:srgbClr val="162236"/>
          </a:solidFill>
          <a:ln w="12700">
            <a:solidFill>
              <a:srgbClr val="0E9E8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103120"/>
            <a:ext cx="2697480" cy="54864"/>
          </a:xfrm>
          <a:prstGeom prst="rect">
            <a:avLst/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1762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 Problem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2542032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articles published daily — manual fact-checking cannot keep pace with viral disinformation.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103120"/>
            <a:ext cx="2697480" cy="2057400"/>
          </a:xfrm>
          <a:prstGeom prst="rect">
            <a:avLst/>
          </a:prstGeom>
          <a:solidFill>
            <a:srgbClr val="162236"/>
          </a:solidFill>
          <a:ln w="12700">
            <a:solidFill>
              <a:srgbClr val="0E9E8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103120"/>
            <a:ext cx="2697480" cy="54864"/>
          </a:xfrm>
          <a:prstGeom prst="rect">
            <a:avLst/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21762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Nuance Problem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2542032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Sophisticated fake news mimics credible journalism, making simple keyword detection ineffective.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2103120"/>
            <a:ext cx="2697480" cy="2057400"/>
          </a:xfrm>
          <a:prstGeom prst="rect">
            <a:avLst/>
          </a:prstGeom>
          <a:solidFill>
            <a:srgbClr val="162236"/>
          </a:solidFill>
          <a:ln w="12700">
            <a:solidFill>
              <a:srgbClr val="0E9E8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2103120"/>
            <a:ext cx="2697480" cy="54864"/>
          </a:xfrm>
          <a:prstGeom prst="rect">
            <a:avLst/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21762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 Problem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36208" y="2542032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AI decisions are not trusted. Users need to understand WHY a verdict is given.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8412480" cy="685800"/>
          </a:xfrm>
          <a:prstGeom prst="rect">
            <a:avLst/>
          </a:prstGeom>
          <a:solidFill>
            <a:srgbClr val="0E9E8F">
              <a:alpha val="15000"/>
            </a:srgbClr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3159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FactGuard Solution: Fine-tuned BERT + SHAP Explainability → Accurate, interpretable, and scalable fake news detection for everyone.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Details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Composition, Domains &amp; Class Distribution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92024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E9E8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515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9E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Articles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005840"/>
            <a:ext cx="192024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0515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50/50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14600" y="1645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/ Fake Split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005840"/>
            <a:ext cx="192024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0515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63440" y="1645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Domains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20840" y="1005840"/>
            <a:ext cx="192024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12280" y="10515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512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812280" y="1645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Tokens (BERT)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Domains Covered: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269748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697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514600" y="269748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14600" y="2697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269748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697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12280" y="269748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2280" y="2697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33649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 / Validation / Test Split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3749040"/>
            <a:ext cx="3840480" cy="548640"/>
          </a:xfrm>
          <a:prstGeom prst="rect">
            <a:avLst/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7490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51960" y="3749040"/>
            <a:ext cx="82296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51960" y="3749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120640" y="3749040"/>
            <a:ext cx="822960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3749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446227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Encoding:  REAL = 1   |   FAKE = 0   |   Stratified Sampling to address class imbalance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Preprocessing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Text to BERT-Ready Tokens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24712"/>
            <a:ext cx="502920" cy="502920"/>
          </a:xfrm>
          <a:prstGeom prst="ellipse">
            <a:avLst/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24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12064" y="1627632"/>
            <a:ext cx="0" cy="256032"/>
          </a:xfrm>
          <a:prstGeom prst="line">
            <a:avLst/>
          </a:prstGeom>
          <a:noFill/>
          <a:ln w="19050">
            <a:solidFill>
              <a:srgbClr val="0E9E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051560"/>
            <a:ext cx="7772400" cy="658368"/>
          </a:xfrm>
          <a:prstGeom prst="rect">
            <a:avLst/>
          </a:prstGeom>
          <a:solidFill>
            <a:srgbClr val="162236"/>
          </a:solidFill>
          <a:ln w="6350">
            <a:solidFill>
              <a:srgbClr val="0E9E8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43000" y="110642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 Cleaning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37160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all text. Remove HTML tags, special characters, URLs, and non-ASCII symbols.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892808"/>
            <a:ext cx="502920" cy="502920"/>
          </a:xfrm>
          <a:prstGeom prst="ellipse">
            <a:avLst/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892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12064" y="2395728"/>
            <a:ext cx="0" cy="256032"/>
          </a:xfrm>
          <a:prstGeom prst="line">
            <a:avLst/>
          </a:prstGeom>
          <a:noFill/>
          <a:ln w="19050">
            <a:solidFill>
              <a:srgbClr val="0E9E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1819656"/>
            <a:ext cx="7772400" cy="658368"/>
          </a:xfrm>
          <a:prstGeom prst="rect">
            <a:avLst/>
          </a:prstGeom>
          <a:solidFill>
            <a:srgbClr val="162236"/>
          </a:solidFill>
          <a:ln w="6350">
            <a:solidFill>
              <a:srgbClr val="0E9E8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143000" y="18745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WordPiece Tokenization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213969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BERT's bert-base-uncased tokenizer — splits rare words into subword units for vocabulary coverage.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660904"/>
            <a:ext cx="502920" cy="502920"/>
          </a:xfrm>
          <a:prstGeom prst="ellipse">
            <a:avLst/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6609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12064" y="3163824"/>
            <a:ext cx="0" cy="256032"/>
          </a:xfrm>
          <a:prstGeom prst="line">
            <a:avLst/>
          </a:prstGeom>
          <a:noFill/>
          <a:ln w="19050">
            <a:solidFill>
              <a:srgbClr val="0E9E8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2587752"/>
            <a:ext cx="7772400" cy="658368"/>
          </a:xfrm>
          <a:prstGeom prst="rect">
            <a:avLst/>
          </a:prstGeom>
          <a:solidFill>
            <a:srgbClr val="162236"/>
          </a:solidFill>
          <a:ln w="6350">
            <a:solidFill>
              <a:srgbClr val="0E9E8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143000" y="264261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Truncation &amp; Padding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290779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 truncated/padded to max 512 tokens — BERT's architectural limit for transformer attention.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429000"/>
            <a:ext cx="502920" cy="502920"/>
          </a:xfrm>
          <a:prstGeom prst="ellipse">
            <a:avLst/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12064" y="3931920"/>
            <a:ext cx="0" cy="256032"/>
          </a:xfrm>
          <a:prstGeom prst="line">
            <a:avLst/>
          </a:prstGeom>
          <a:noFill/>
          <a:ln w="19050">
            <a:solidFill>
              <a:srgbClr val="0E9E8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" y="3355848"/>
            <a:ext cx="7772400" cy="658368"/>
          </a:xfrm>
          <a:prstGeom prst="rect">
            <a:avLst/>
          </a:prstGeom>
          <a:solidFill>
            <a:srgbClr val="162236"/>
          </a:solidFill>
          <a:ln w="6350">
            <a:solidFill>
              <a:srgbClr val="0E9E8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143000" y="34107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Attention Masking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367588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attention masks (1 = real token, 0 = padding) so the model ignores padded positions.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4197096"/>
            <a:ext cx="502920" cy="502920"/>
          </a:xfrm>
          <a:prstGeom prst="ellipse">
            <a:avLst/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197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05840" y="4123944"/>
            <a:ext cx="7772400" cy="658368"/>
          </a:xfrm>
          <a:prstGeom prst="rect">
            <a:avLst/>
          </a:prstGeom>
          <a:solidFill>
            <a:srgbClr val="162236"/>
          </a:solidFill>
          <a:ln w="6350">
            <a:solidFill>
              <a:srgbClr val="0E9E8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143000" y="41788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Stratified Splitting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43000" y="444398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train / 15% validation / 15% test split using stratified sampling to preserve class ratios.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— 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Three-Layer Design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78992"/>
            <a:ext cx="73152" cy="10515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70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Layer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5179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 — Single Page Application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3075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 •  CSS3  •  JavaScript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26280" y="2130552"/>
            <a:ext cx="0" cy="201168"/>
          </a:xfrm>
          <a:prstGeom prst="line">
            <a:avLst/>
          </a:prstGeom>
          <a:noFill/>
          <a:ln w="25400">
            <a:solidFill>
              <a:srgbClr val="0E9E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340864"/>
            <a:ext cx="841248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E9E8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340864"/>
            <a:ext cx="73152" cy="1051560"/>
          </a:xfrm>
          <a:prstGeom prst="rect">
            <a:avLst/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43230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Layer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27797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 — REST API Server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56946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•  Uvicorn  •  Python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26280" y="3392424"/>
            <a:ext cx="0" cy="201168"/>
          </a:xfrm>
          <a:prstGeom prst="line">
            <a:avLst/>
          </a:prstGeom>
          <a:noFill/>
          <a:ln w="25400">
            <a:solidFill>
              <a:srgbClr val="0E9E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602736"/>
            <a:ext cx="841248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602736"/>
            <a:ext cx="73152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6941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/ ML Engine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40416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 — BERT Inference + Explainability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83133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 •  HuggingFace Transformers  •  SHAP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4663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508760" y="4663440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0D1B2A"/>
          </a:solidFill>
          <a:ln w="6350">
            <a:solidFill>
              <a:srgbClr val="0E9E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08760" y="46634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017520" y="4663440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0D1B2A"/>
          </a:solidFill>
          <a:ln w="6350">
            <a:solidFill>
              <a:srgbClr val="0E9E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17520" y="46634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26280" y="4663440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0D1B2A"/>
          </a:solidFill>
          <a:ln w="6350">
            <a:solidFill>
              <a:srgbClr val="0E9E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46634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35040" y="4663440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0D1B2A"/>
          </a:solidFill>
          <a:ln w="6350">
            <a:solidFill>
              <a:srgbClr val="0E9E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46634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safetensors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543800" y="4663440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0D1B2A"/>
          </a:solidFill>
          <a:ln w="6350">
            <a:solidFill>
              <a:srgbClr val="0E9E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43800" y="46634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virtualenv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— Fine-Tuned BERT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bert-base-uncased  |  110M Parameters  |  Binary Classification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3840480" cy="457200"/>
          </a:xfrm>
          <a:prstGeom prst="rect">
            <a:avLst/>
          </a:prstGeom>
          <a:solidFill>
            <a:srgbClr val="162236"/>
          </a:solidFill>
          <a:ln w="12700">
            <a:solidFill>
              <a:srgbClr val="0E9E8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241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Text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0" y="1481328"/>
            <a:ext cx="0" cy="146304"/>
          </a:xfrm>
          <a:prstGeom prst="line">
            <a:avLst/>
          </a:prstGeom>
          <a:noFill/>
          <a:ln w="19050">
            <a:solidFill>
              <a:srgbClr val="0E9E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27632"/>
            <a:ext cx="3840480" cy="457200"/>
          </a:xfrm>
          <a:prstGeom prst="rect">
            <a:avLst/>
          </a:prstGeom>
          <a:solidFill>
            <a:srgbClr val="162236"/>
          </a:solidFill>
          <a:ln w="12700">
            <a:solidFill>
              <a:srgbClr val="0E9E8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6276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WordPiece Tokenizer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94560" y="2084832"/>
            <a:ext cx="0" cy="146304"/>
          </a:xfrm>
          <a:prstGeom prst="line">
            <a:avLst/>
          </a:prstGeom>
          <a:noFill/>
          <a:ln w="19050">
            <a:solidFill>
              <a:srgbClr val="0E9E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31136"/>
            <a:ext cx="3840480" cy="457200"/>
          </a:xfrm>
          <a:prstGeom prst="rect">
            <a:avLst/>
          </a:prstGeom>
          <a:solidFill>
            <a:srgbClr val="162236"/>
          </a:solidFill>
          <a:ln w="12700">
            <a:solidFill>
              <a:srgbClr val="0E9E8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223113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Transformer Layers (768d)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0" y="2688336"/>
            <a:ext cx="0" cy="146304"/>
          </a:xfrm>
          <a:prstGeom prst="line">
            <a:avLst/>
          </a:prstGeom>
          <a:noFill/>
          <a:ln w="19050">
            <a:solidFill>
              <a:srgbClr val="0E9E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834640"/>
            <a:ext cx="3840480" cy="457200"/>
          </a:xfrm>
          <a:prstGeom prst="rect">
            <a:avLst/>
          </a:prstGeom>
          <a:solidFill>
            <a:srgbClr val="162236"/>
          </a:solidFill>
          <a:ln w="12700">
            <a:solidFill>
              <a:srgbClr val="0E9E8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" y="2834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[CLS] Token Embedding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3291840"/>
            <a:ext cx="0" cy="146304"/>
          </a:xfrm>
          <a:prstGeom prst="line">
            <a:avLst/>
          </a:prstGeom>
          <a:noFill/>
          <a:ln w="19050">
            <a:solidFill>
              <a:srgbClr val="0E9E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38144"/>
            <a:ext cx="3840480" cy="457200"/>
          </a:xfrm>
          <a:prstGeom prst="rect">
            <a:avLst/>
          </a:prstGeom>
          <a:solidFill>
            <a:srgbClr val="162236"/>
          </a:solidFill>
          <a:ln w="12700">
            <a:solidFill>
              <a:srgbClr val="0E9E8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" y="343814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Head (768→2)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94560" y="3895344"/>
            <a:ext cx="0" cy="146304"/>
          </a:xfrm>
          <a:prstGeom prst="line">
            <a:avLst/>
          </a:prstGeom>
          <a:noFill/>
          <a:ln w="19050">
            <a:solidFill>
              <a:srgbClr val="0E9E8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4041648"/>
            <a:ext cx="3840480" cy="457200"/>
          </a:xfrm>
          <a:prstGeom prst="rect">
            <a:avLst/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" y="40416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→ FAKE / REAL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10058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Fine-Tuning Configuration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0" y="1417320"/>
            <a:ext cx="4297680" cy="411480"/>
          </a:xfrm>
          <a:prstGeom prst="rect">
            <a:avLst/>
          </a:prstGeom>
          <a:solidFill>
            <a:srgbClr val="162236"/>
          </a:solidFill>
          <a:ln w="6350">
            <a:solidFill>
              <a:srgbClr val="0E9E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1728" y="1417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80760" y="14173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 (weight decay 0.01)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1892808"/>
            <a:ext cx="4297680" cy="411480"/>
          </a:xfrm>
          <a:prstGeom prst="rect">
            <a:avLst/>
          </a:prstGeom>
          <a:solidFill>
            <a:srgbClr val="162236"/>
          </a:solidFill>
          <a:ln w="6350">
            <a:solidFill>
              <a:srgbClr val="0E9E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189280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80760" y="189280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2e-5  with linear warm-up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2368296"/>
            <a:ext cx="4297680" cy="411480"/>
          </a:xfrm>
          <a:prstGeom prst="rect">
            <a:avLst/>
          </a:prstGeom>
          <a:solidFill>
            <a:srgbClr val="162236"/>
          </a:solidFill>
          <a:ln w="6350">
            <a:solidFill>
              <a:srgbClr val="0E9E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1728" y="236829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80760" y="2368296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(train)  /  32 (eval)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2843784"/>
            <a:ext cx="4297680" cy="411480"/>
          </a:xfrm>
          <a:prstGeom prst="rect">
            <a:avLst/>
          </a:prstGeom>
          <a:solidFill>
            <a:srgbClr val="162236"/>
          </a:solidFill>
          <a:ln w="6350">
            <a:solidFill>
              <a:srgbClr val="0E9E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1728" y="284378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80760" y="2843784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(early stopping on val loss)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3319272"/>
            <a:ext cx="4297680" cy="411480"/>
          </a:xfrm>
          <a:prstGeom prst="rect">
            <a:avLst/>
          </a:prstGeom>
          <a:solidFill>
            <a:srgbClr val="162236"/>
          </a:solidFill>
          <a:ln w="6350">
            <a:solidFill>
              <a:srgbClr val="0E9E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1728" y="33192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80760" y="331927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Loss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0" y="3794760"/>
            <a:ext cx="4297680" cy="411480"/>
          </a:xfrm>
          <a:prstGeom prst="rect">
            <a:avLst/>
          </a:prstGeom>
          <a:solidFill>
            <a:srgbClr val="162236"/>
          </a:solidFill>
          <a:ln w="6350">
            <a:solidFill>
              <a:srgbClr val="0E9E8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81728" y="3794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080760" y="37947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(fp16) — faster training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0" y="4270248"/>
            <a:ext cx="4297680" cy="411480"/>
          </a:xfrm>
          <a:prstGeom prst="rect">
            <a:avLst/>
          </a:prstGeom>
          <a:solidFill>
            <a:srgbClr val="162236"/>
          </a:solidFill>
          <a:ln w="6350">
            <a:solidFill>
              <a:srgbClr val="0E9E8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81728" y="42702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Format: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080760" y="427024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safetensors (HuggingFace)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— FastAPI &amp; SHAP Explainability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REST API Design  +  Explainability Layer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 Endpoints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9E8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545336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4533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88720" y="15087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18196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article text → returns verdict, confidence &amp; SHAP values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24028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9E8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" y="2368296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36829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88720" y="23317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" y="26426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→ returns server status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31272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CORS middleware  •  Pydantic validation  •  422 error responses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SHAP Explainability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63440" y="1417320"/>
            <a:ext cx="411480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E9E8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417320"/>
            <a:ext cx="54864" cy="640080"/>
          </a:xfrm>
          <a:prstGeom prst="rect">
            <a:avLst/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14630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Explainer Type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91456" y="171907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shap.Explainer wrapping the BERT inference pipeline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185416"/>
            <a:ext cx="411480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E9E8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185416"/>
            <a:ext cx="54864" cy="640080"/>
          </a:xfrm>
          <a:prstGeom prst="rect">
            <a:avLst/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91456" y="223113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TextMasker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91456" y="24871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Iteratively masks tokens to compute marginal contributions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953512"/>
            <a:ext cx="411480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E9E8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953512"/>
            <a:ext cx="54864" cy="640080"/>
          </a:xfrm>
          <a:prstGeom prst="rect">
            <a:avLst/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91456" y="29992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91456" y="325526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Per-token SHAP values: positive = towards REAL, negative = towards FAKE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721608"/>
            <a:ext cx="411480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E9E8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721608"/>
            <a:ext cx="54864" cy="640080"/>
          </a:xfrm>
          <a:prstGeom prst="rect">
            <a:avLst/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91456" y="376732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Visualization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91456" y="40233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contributing tokens highlighted in frontend UI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526280"/>
            <a:ext cx="841248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5262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FactGuard is NOT a black box — SHAP turns every prediction into an auditable, human-readable explanation.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— Model Performance Metrics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BERT vs. Baseline TF-IDF + Logistic Regression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2651760" cy="914400"/>
          </a:xfrm>
          <a:prstGeom prst="rect">
            <a:avLst/>
          </a:prstGeom>
          <a:solidFill>
            <a:srgbClr val="162236"/>
          </a:solidFill>
          <a:ln w="19050">
            <a:solidFill>
              <a:srgbClr val="0E9E8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7899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9E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96.8%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75564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vs 89.2% baseline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024128"/>
            <a:ext cx="2651760" cy="914400"/>
          </a:xfrm>
          <a:prstGeom prst="rect">
            <a:avLst/>
          </a:prstGeom>
          <a:solidFill>
            <a:srgbClr val="162236"/>
          </a:solidFill>
          <a:ln w="19050">
            <a:solidFill>
              <a:srgbClr val="0E9E8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07899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9E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96.75%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91840" y="15727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175564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vs 89.2% baseline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1024128"/>
            <a:ext cx="2651760" cy="914400"/>
          </a:xfrm>
          <a:prstGeom prst="rect">
            <a:avLst/>
          </a:prstGeom>
          <a:solidFill>
            <a:srgbClr val="162236"/>
          </a:solidFill>
          <a:ln w="19050">
            <a:solidFill>
              <a:srgbClr val="0E9E8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07899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9E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0.991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17920" y="15727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175564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vs 0.952 baseline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084832"/>
            <a:ext cx="2743200" cy="384048"/>
          </a:xfrm>
          <a:prstGeom prst="rect">
            <a:avLst/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0848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08960" y="2084832"/>
            <a:ext cx="2286000" cy="384048"/>
          </a:xfrm>
          <a:prstGeom prst="rect">
            <a:avLst/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20848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BERT (Ours)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94960" y="2084832"/>
            <a:ext cx="2286000" cy="384048"/>
          </a:xfrm>
          <a:prstGeom prst="rect">
            <a:avLst/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0848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Baseline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2468880"/>
            <a:ext cx="2743200" cy="338328"/>
          </a:xfrm>
          <a:prstGeom prst="rect">
            <a:avLst/>
          </a:prstGeom>
          <a:solidFill>
            <a:srgbClr val="162236"/>
          </a:solidFill>
          <a:ln w="3810">
            <a:solidFill>
              <a:srgbClr val="0E9E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468880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108960" y="2468880"/>
            <a:ext cx="2286000" cy="338328"/>
          </a:xfrm>
          <a:prstGeom prst="rect">
            <a:avLst/>
          </a:prstGeom>
          <a:solidFill>
            <a:srgbClr val="162236"/>
          </a:solidFill>
          <a:ln w="3810">
            <a:solidFill>
              <a:srgbClr val="0E9E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2468880"/>
            <a:ext cx="2194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96.8%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394960" y="2468880"/>
            <a:ext cx="2286000" cy="338328"/>
          </a:xfrm>
          <a:prstGeom prst="rect">
            <a:avLst/>
          </a:prstGeom>
          <a:solidFill>
            <a:srgbClr val="162236"/>
          </a:solidFill>
          <a:ln w="3810">
            <a:solidFill>
              <a:srgbClr val="0E9E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2468880"/>
            <a:ext cx="2194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89.2%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2807208"/>
            <a:ext cx="2743200" cy="338328"/>
          </a:xfrm>
          <a:prstGeom prst="rect">
            <a:avLst/>
          </a:prstGeom>
          <a:solidFill>
            <a:srgbClr val="1A2E47"/>
          </a:solidFill>
          <a:ln w="3810">
            <a:solidFill>
              <a:srgbClr val="0E9E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807208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(Fake)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108960" y="2807208"/>
            <a:ext cx="2286000" cy="338328"/>
          </a:xfrm>
          <a:prstGeom prst="rect">
            <a:avLst/>
          </a:prstGeom>
          <a:solidFill>
            <a:srgbClr val="1A2E47"/>
          </a:solidFill>
          <a:ln w="3810">
            <a:solidFill>
              <a:srgbClr val="0E9E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0" y="2807208"/>
            <a:ext cx="2194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97.1%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394960" y="2807208"/>
            <a:ext cx="2286000" cy="338328"/>
          </a:xfrm>
          <a:prstGeom prst="rect">
            <a:avLst/>
          </a:prstGeom>
          <a:solidFill>
            <a:srgbClr val="1A2E47"/>
          </a:solidFill>
          <a:ln w="3810">
            <a:solidFill>
              <a:srgbClr val="0E9E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0" y="2807208"/>
            <a:ext cx="2194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88.4%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" y="3145536"/>
            <a:ext cx="2743200" cy="338328"/>
          </a:xfrm>
          <a:prstGeom prst="rect">
            <a:avLst/>
          </a:prstGeom>
          <a:solidFill>
            <a:srgbClr val="162236"/>
          </a:solidFill>
          <a:ln w="3810">
            <a:solidFill>
              <a:srgbClr val="0E9E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145536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(Fake)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108960" y="3145536"/>
            <a:ext cx="2286000" cy="338328"/>
          </a:xfrm>
          <a:prstGeom prst="rect">
            <a:avLst/>
          </a:prstGeom>
          <a:solidFill>
            <a:srgbClr val="162236"/>
          </a:solidFill>
          <a:ln w="3810">
            <a:solidFill>
              <a:srgbClr val="0E9E8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0" y="3145536"/>
            <a:ext cx="2194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96.4%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394960" y="3145536"/>
            <a:ext cx="2286000" cy="338328"/>
          </a:xfrm>
          <a:prstGeom prst="rect">
            <a:avLst/>
          </a:prstGeom>
          <a:solidFill>
            <a:srgbClr val="162236"/>
          </a:solidFill>
          <a:ln w="3810">
            <a:solidFill>
              <a:srgbClr val="0E9E8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0" y="3145536"/>
            <a:ext cx="2194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87.9%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65760" y="3483864"/>
            <a:ext cx="2743200" cy="338328"/>
          </a:xfrm>
          <a:prstGeom prst="rect">
            <a:avLst/>
          </a:prstGeom>
          <a:solidFill>
            <a:srgbClr val="1A2E47"/>
          </a:solidFill>
          <a:ln w="3810">
            <a:solidFill>
              <a:srgbClr val="0E9E8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3483864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(Fake)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108960" y="3483864"/>
            <a:ext cx="2286000" cy="338328"/>
          </a:xfrm>
          <a:prstGeom prst="rect">
            <a:avLst/>
          </a:prstGeom>
          <a:solidFill>
            <a:srgbClr val="1A2E47"/>
          </a:solidFill>
          <a:ln w="3810">
            <a:solidFill>
              <a:srgbClr val="0E9E8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0" y="3483864"/>
            <a:ext cx="2194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96.7%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394960" y="3483864"/>
            <a:ext cx="2286000" cy="338328"/>
          </a:xfrm>
          <a:prstGeom prst="rect">
            <a:avLst/>
          </a:prstGeom>
          <a:solidFill>
            <a:srgbClr val="1A2E47"/>
          </a:solidFill>
          <a:ln w="3810">
            <a:solidFill>
              <a:srgbClr val="0E9E8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0" y="3483864"/>
            <a:ext cx="2194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88.1%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65760" y="3822192"/>
            <a:ext cx="2743200" cy="338328"/>
          </a:xfrm>
          <a:prstGeom prst="rect">
            <a:avLst/>
          </a:prstGeom>
          <a:solidFill>
            <a:srgbClr val="162236"/>
          </a:solidFill>
          <a:ln w="3810">
            <a:solidFill>
              <a:srgbClr val="0E9E8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3822192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(Real)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108960" y="3822192"/>
            <a:ext cx="2286000" cy="338328"/>
          </a:xfrm>
          <a:prstGeom prst="rect">
            <a:avLst/>
          </a:prstGeom>
          <a:solidFill>
            <a:srgbClr val="162236"/>
          </a:solidFill>
          <a:ln w="3810">
            <a:solidFill>
              <a:srgbClr val="0E9E8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0" y="3822192"/>
            <a:ext cx="2194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96.5%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394960" y="3822192"/>
            <a:ext cx="2286000" cy="338328"/>
          </a:xfrm>
          <a:prstGeom prst="rect">
            <a:avLst/>
          </a:prstGeom>
          <a:solidFill>
            <a:srgbClr val="162236"/>
          </a:solidFill>
          <a:ln w="3810">
            <a:solidFill>
              <a:srgbClr val="0E9E8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0" y="3822192"/>
            <a:ext cx="2194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90.0%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365760" y="4160520"/>
            <a:ext cx="2743200" cy="338328"/>
          </a:xfrm>
          <a:prstGeom prst="rect">
            <a:avLst/>
          </a:prstGeom>
          <a:solidFill>
            <a:srgbClr val="1A2E47"/>
          </a:solidFill>
          <a:ln w="3810">
            <a:solidFill>
              <a:srgbClr val="0E9E8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4160520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(Real)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3108960" y="4160520"/>
            <a:ext cx="2286000" cy="338328"/>
          </a:xfrm>
          <a:prstGeom prst="rect">
            <a:avLst/>
          </a:prstGeom>
          <a:solidFill>
            <a:srgbClr val="1A2E47"/>
          </a:solidFill>
          <a:ln w="3810">
            <a:solidFill>
              <a:srgbClr val="0E9E8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0" y="4160520"/>
            <a:ext cx="2194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97.2%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394960" y="4160520"/>
            <a:ext cx="2286000" cy="338328"/>
          </a:xfrm>
          <a:prstGeom prst="rect">
            <a:avLst/>
          </a:prstGeom>
          <a:solidFill>
            <a:srgbClr val="1A2E47"/>
          </a:solidFill>
          <a:ln w="3810">
            <a:solidFill>
              <a:srgbClr val="0E9E8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0" y="4160520"/>
            <a:ext cx="2194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90.6%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365760" y="4498848"/>
            <a:ext cx="2743200" cy="338328"/>
          </a:xfrm>
          <a:prstGeom prst="rect">
            <a:avLst/>
          </a:prstGeom>
          <a:solidFill>
            <a:srgbClr val="162236"/>
          </a:solidFill>
          <a:ln w="3810">
            <a:solidFill>
              <a:srgbClr val="0E9E8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4498848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(Real)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3108960" y="4498848"/>
            <a:ext cx="2286000" cy="338328"/>
          </a:xfrm>
          <a:prstGeom prst="rect">
            <a:avLst/>
          </a:prstGeom>
          <a:solidFill>
            <a:srgbClr val="162236"/>
          </a:solidFill>
          <a:ln w="3810">
            <a:solidFill>
              <a:srgbClr val="0E9E8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0400" y="4498848"/>
            <a:ext cx="2194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96.8%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5394960" y="4498848"/>
            <a:ext cx="2286000" cy="338328"/>
          </a:xfrm>
          <a:prstGeom prst="rect">
            <a:avLst/>
          </a:prstGeom>
          <a:solidFill>
            <a:srgbClr val="162236"/>
          </a:solidFill>
          <a:ln w="3810">
            <a:solidFill>
              <a:srgbClr val="0E9E8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86400" y="4498848"/>
            <a:ext cx="2194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90.3%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D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BERT's contextual embeddings capture nuanced linguistic patterns that shallow TF-IDF models entirely miss.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— Confusion Matrix &amp; Training Analysis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(~3,000 samples)  |  Training &amp; Validation Loss Curves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Confusion Matrix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137160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898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691640" y="1389888"/>
            <a:ext cx="123444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138988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Pred: REAL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26080" y="1389888"/>
            <a:ext cx="123444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138988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Pred: FAKE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737360"/>
            <a:ext cx="1371600" cy="658368"/>
          </a:xfrm>
          <a:prstGeom prst="rect">
            <a:avLst/>
          </a:prstGeom>
          <a:solidFill>
            <a:srgbClr val="0D1B2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73736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Actual: REAL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691640" y="1737360"/>
            <a:ext cx="1234440" cy="658368"/>
          </a:xfrm>
          <a:prstGeom prst="rect">
            <a:avLst/>
          </a:prstGeom>
          <a:solidFill>
            <a:srgbClr val="C6F6D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0" y="1737360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1,441 (TP)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26080" y="1737360"/>
            <a:ext cx="1234440" cy="658368"/>
          </a:xfrm>
          <a:prstGeom prst="rect">
            <a:avLst/>
          </a:prstGeom>
          <a:solidFill>
            <a:srgbClr val="FED7D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1737360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(FN)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2395728"/>
            <a:ext cx="1371600" cy="658368"/>
          </a:xfrm>
          <a:prstGeom prst="rect">
            <a:avLst/>
          </a:prstGeom>
          <a:solidFill>
            <a:srgbClr val="0D1B2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39572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Actual: FAKE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691640" y="2395728"/>
            <a:ext cx="1234440" cy="658368"/>
          </a:xfrm>
          <a:prstGeom prst="rect">
            <a:avLst/>
          </a:prstGeom>
          <a:solidFill>
            <a:srgbClr val="FED7D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37360" y="2395728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(FP)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926080" y="2395728"/>
            <a:ext cx="1234440" cy="658368"/>
          </a:xfrm>
          <a:prstGeom prst="rect">
            <a:avLst/>
          </a:prstGeom>
          <a:solidFill>
            <a:srgbClr val="C6F6D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71800" y="2395728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1,463 (TN)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0040" y="2788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Observations: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" y="30906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41 FN: Real news flagged as fake — mainly sensational political headlines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" y="3474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55 FP: Fake news predicted real — sophisticated disinformation mimicking credible journalism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0" y="10058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Loss Curve Analysis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663440" y="1417320"/>
            <a:ext cx="4023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51960" y="33192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251960" y="274450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663440" y="2854234"/>
            <a:ext cx="40233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51960" y="2169741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663440" y="2279469"/>
            <a:ext cx="40233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51960" y="1594975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63440" y="1704703"/>
            <a:ext cx="40233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64024" y="1589750"/>
            <a:ext cx="365760" cy="1839250"/>
          </a:xfrm>
          <a:prstGeom prst="rect">
            <a:avLst/>
          </a:prstGeom>
          <a:solidFill>
            <a:srgbClr val="0E9E8F">
              <a:alpha val="80000"/>
            </a:srgbClr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75504" y="2538113"/>
            <a:ext cx="365760" cy="890887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8304" y="345643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769864" y="2624328"/>
            <a:ext cx="365760" cy="804672"/>
          </a:xfrm>
          <a:prstGeom prst="rect">
            <a:avLst/>
          </a:prstGeom>
          <a:solidFill>
            <a:srgbClr val="0E9E8F">
              <a:alpha val="80000"/>
            </a:srgbClr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81344" y="2911711"/>
            <a:ext cx="365760" cy="517289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24144" y="345643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775704" y="2997926"/>
            <a:ext cx="365760" cy="431074"/>
          </a:xfrm>
          <a:prstGeom prst="rect">
            <a:avLst/>
          </a:prstGeom>
          <a:solidFill>
            <a:srgbClr val="0E9E8F">
              <a:alpha val="80000"/>
            </a:srgbClr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87184" y="3055402"/>
            <a:ext cx="365760" cy="373598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29984" y="345643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781544" y="3170355"/>
            <a:ext cx="365760" cy="258645"/>
          </a:xfrm>
          <a:prstGeom prst="rect">
            <a:avLst/>
          </a:prstGeom>
          <a:solidFill>
            <a:srgbClr val="0E9E8F">
              <a:alpha val="80000"/>
            </a:srgbClr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193024" y="3112879"/>
            <a:ext cx="365760" cy="316121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35824" y="345643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069210" y="1579127"/>
            <a:ext cx="182880" cy="137160"/>
          </a:xfrm>
          <a:prstGeom prst="rect">
            <a:avLst/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43289" y="1533407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406640" y="1560736"/>
            <a:ext cx="182880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90104" y="15270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Loss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0" y="3566160"/>
            <a:ext cx="420624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E9E8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709160" y="362102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loss: 0.64 → 0.09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loss: 0.31 → 0.11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overfitting — regularization effective.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— SHAP Analysis &amp; API Benchmarks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Insights  +  Performance Benchmarks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SHAP Token Analysis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42646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FAKE Indicators (high negative SHAP):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7F1D1D"/>
          </a:solidFill>
          <a:ln w="6350">
            <a:solidFill>
              <a:srgbClr val="E53E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3736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17320" y="1737360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7F1D1D"/>
          </a:solidFill>
          <a:ln w="6350">
            <a:solidFill>
              <a:srgbClr val="E53E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173736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0" y="1737360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7F1D1D"/>
          </a:solidFill>
          <a:ln w="6350">
            <a:solidFill>
              <a:srgbClr val="E53E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73736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20440" y="1737360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7F1D1D"/>
          </a:solidFill>
          <a:ln w="6350">
            <a:solidFill>
              <a:srgbClr val="E53E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173736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unconfirmed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139696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7F1D1D"/>
          </a:solidFill>
          <a:ln w="6350">
            <a:solidFill>
              <a:srgbClr val="E53E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139696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417320" y="2139696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7F1D1D"/>
          </a:solidFill>
          <a:ln w="6350">
            <a:solidFill>
              <a:srgbClr val="E53E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2139696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whistleblower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68880" y="2139696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7F1D1D"/>
          </a:solidFill>
          <a:ln w="6350">
            <a:solidFill>
              <a:srgbClr val="E53E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68880" y="2139696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mind-control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20440" y="2139696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7F1D1D"/>
          </a:solidFill>
          <a:ln w="6350">
            <a:solidFill>
              <a:srgbClr val="E53E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2139696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secretly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25786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REAL Indicators (high positive SHAP):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889504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14532D"/>
          </a:solidFill>
          <a:ln w="6350">
            <a:solidFill>
              <a:srgbClr val="38A1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88950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Bank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417320" y="2889504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14532D"/>
          </a:solidFill>
          <a:ln w="6350">
            <a:solidFill>
              <a:srgbClr val="38A1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17320" y="288950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statement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68880" y="2889504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14532D"/>
          </a:solidFill>
          <a:ln w="6350">
            <a:solidFill>
              <a:srgbClr val="38A1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68880" y="288950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points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520440" y="2889504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14532D"/>
          </a:solidFill>
          <a:ln w="6350">
            <a:solidFill>
              <a:srgbClr val="38A1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20440" y="288950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3291840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14532D"/>
          </a:solidFill>
          <a:ln w="6350">
            <a:solidFill>
              <a:srgbClr val="38A1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29184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417320" y="3291840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14532D"/>
          </a:solidFill>
          <a:ln w="6350">
            <a:solidFill>
              <a:srgbClr val="38A1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17320" y="329184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according to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468880" y="3291840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14532D"/>
          </a:solidFill>
          <a:ln w="6350">
            <a:solidFill>
              <a:srgbClr val="38A1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68880" y="329184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by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520440" y="3291840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14532D"/>
          </a:solidFill>
          <a:ln w="6350">
            <a:solidFill>
              <a:srgbClr val="38A1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20440" y="329184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sources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572000" y="1024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Performance Benchmarks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4572000" y="1426464"/>
            <a:ext cx="4297680" cy="475488"/>
          </a:xfrm>
          <a:prstGeom prst="rect">
            <a:avLst/>
          </a:prstGeom>
          <a:solidFill>
            <a:srgbClr val="162236"/>
          </a:solidFill>
          <a:ln w="6350">
            <a:solidFill>
              <a:srgbClr val="0E9E8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81728" y="146304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Loading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12280" y="146304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9E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~4.2 sec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936992" y="146304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D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startup cost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572000" y="1984248"/>
            <a:ext cx="4297680" cy="475488"/>
          </a:xfrm>
          <a:prstGeom prst="rect">
            <a:avLst/>
          </a:prstGeom>
          <a:solidFill>
            <a:srgbClr val="162236"/>
          </a:solidFill>
          <a:ln w="6350">
            <a:solidFill>
              <a:srgbClr val="0E9E8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81728" y="202082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Inference (CPU)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812280" y="202082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9E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~310 ms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936992" y="2020824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D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request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572000" y="2542032"/>
            <a:ext cx="4297680" cy="475488"/>
          </a:xfrm>
          <a:prstGeom prst="rect">
            <a:avLst/>
          </a:prstGeom>
          <a:solidFill>
            <a:srgbClr val="162236"/>
          </a:solidFill>
          <a:ln w="6350">
            <a:solidFill>
              <a:srgbClr val="0E9E8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81728" y="25786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Computation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812280" y="257860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9E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~820 ms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936992" y="2578608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D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tokens, per request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572000" y="3099816"/>
            <a:ext cx="4297680" cy="475488"/>
          </a:xfrm>
          <a:prstGeom prst="rect">
            <a:avLst/>
          </a:prstGeom>
          <a:solidFill>
            <a:srgbClr val="162236"/>
          </a:solidFill>
          <a:ln w="6350">
            <a:solidFill>
              <a:srgbClr val="0E9E8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81728" y="313639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Response Time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812280" y="313639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9E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~1.15 sec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7936992" y="313639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D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per prediction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572000" y="3657600"/>
            <a:ext cx="4297680" cy="475488"/>
          </a:xfrm>
          <a:prstGeom prst="rect">
            <a:avLst/>
          </a:prstGeom>
          <a:solidFill>
            <a:srgbClr val="162236"/>
          </a:solidFill>
          <a:ln w="6350">
            <a:solidFill>
              <a:srgbClr val="0E9E8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81728" y="369417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(seq.)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812280" y="369417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9E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~52 req/min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7936992" y="3694176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D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Single-threaded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572000" y="4215384"/>
            <a:ext cx="4297680" cy="475488"/>
          </a:xfrm>
          <a:prstGeom prst="rect">
            <a:avLst/>
          </a:prstGeom>
          <a:solidFill>
            <a:srgbClr val="162236"/>
          </a:solidFill>
          <a:ln w="6350">
            <a:solidFill>
              <a:srgbClr val="0E9E8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81728" y="425196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Inference (est.)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812280" y="42519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9E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~30-50 ms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7936992" y="425196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D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— Sample Predictions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Inference Demonstrations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73152" cy="19202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1: Fake News Detection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0" y="1051560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0" y="10515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FAKE  98.3%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"BREAKING: Government secretly testing mind-control chemicals in drinking water, whistleblower confirms exclusive leak"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SHAP Tokens (FAKE indicators):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1463040" cy="292608"/>
          </a:xfrm>
          <a:prstGeom prst="roundRect">
            <a:avLst>
              <a:gd name="adj" fmla="val 12500"/>
            </a:avLst>
          </a:prstGeom>
          <a:solidFill>
            <a:srgbClr val="FEE2E2"/>
          </a:solidFill>
          <a:ln w="6350">
            <a:solidFill>
              <a:srgbClr val="E53E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945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57400" y="2194560"/>
            <a:ext cx="1463040" cy="292608"/>
          </a:xfrm>
          <a:prstGeom prst="roundRect">
            <a:avLst>
              <a:gd name="adj" fmla="val 12500"/>
            </a:avLst>
          </a:prstGeom>
          <a:solidFill>
            <a:srgbClr val="FEE2E2"/>
          </a:solidFill>
          <a:ln w="6350">
            <a:solidFill>
              <a:srgbClr val="E53E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57400" y="21945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mind-control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0" y="2194560"/>
            <a:ext cx="1463040" cy="292608"/>
          </a:xfrm>
          <a:prstGeom prst="roundRect">
            <a:avLst>
              <a:gd name="adj" fmla="val 12500"/>
            </a:avLst>
          </a:prstGeom>
          <a:solidFill>
            <a:srgbClr val="FEE2E2"/>
          </a:solidFill>
          <a:ln w="6350">
            <a:solidFill>
              <a:srgbClr val="E53E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21945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secretly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257800" y="2194560"/>
            <a:ext cx="1463040" cy="292608"/>
          </a:xfrm>
          <a:prstGeom prst="roundRect">
            <a:avLst>
              <a:gd name="adj" fmla="val 12500"/>
            </a:avLst>
          </a:prstGeom>
          <a:solidFill>
            <a:srgbClr val="FEE2E2"/>
          </a:solidFill>
          <a:ln w="6350">
            <a:solidFill>
              <a:srgbClr val="E53E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21945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leak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0" y="2194560"/>
            <a:ext cx="1463040" cy="292608"/>
          </a:xfrm>
          <a:prstGeom prst="roundRect">
            <a:avLst>
              <a:gd name="adj" fmla="val 12500"/>
            </a:avLst>
          </a:prstGeom>
          <a:solidFill>
            <a:srgbClr val="FEE2E2"/>
          </a:solidFill>
          <a:ln w="6350">
            <a:solidFill>
              <a:srgbClr val="E53E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21945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whistleblower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063240"/>
            <a:ext cx="859536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38A16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063240"/>
            <a:ext cx="73152" cy="192024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108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2: Real News Detection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15200" y="3108960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0" y="31089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 96.7%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4930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Reserve Bank of India raised the benchmark repo rate by 25 basis points to 6.75% on Wednesday, citing persistent core inflation pressures, according to the RBI governor's official statement."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SHAP Tokens (REAL indicators):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315968"/>
            <a:ext cx="1463040" cy="292608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 w="6350">
            <a:solidFill>
              <a:srgbClr val="38A1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3159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Bank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057400" y="4315968"/>
            <a:ext cx="1463040" cy="292608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 w="6350">
            <a:solidFill>
              <a:srgbClr val="38A1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57400" y="43159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rate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0" y="4315968"/>
            <a:ext cx="1463040" cy="292608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 w="6350">
            <a:solidFill>
              <a:srgbClr val="38A1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0" y="43159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points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257800" y="4315968"/>
            <a:ext cx="1463040" cy="292608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 w="6350">
            <a:solidFill>
              <a:srgbClr val="38A1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57800" y="43159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statement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858000" y="4315968"/>
            <a:ext cx="1463040" cy="292608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 w="6350">
            <a:solidFill>
              <a:srgbClr val="38A1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43159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Achievements, Limitations &amp; Societal Impact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347472" cy="347472"/>
          </a:xfrm>
          <a:prstGeom prst="ellipse">
            <a:avLst/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051560"/>
            <a:ext cx="800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BERT achieving 96.8% accuracy &amp; 96.75% Macro F1 — surpassing all baselines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347472" cy="347472"/>
          </a:xfrm>
          <a:prstGeom prst="ellipse">
            <a:avLst/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00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600200"/>
            <a:ext cx="800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FastAPI backend with clean REST API contract and Pydantic validation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148840"/>
            <a:ext cx="347472" cy="347472"/>
          </a:xfrm>
          <a:prstGeom prst="ellipse">
            <a:avLst/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148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148840"/>
            <a:ext cx="800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layer — transforming black-box AI into transparent, auditable decisions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697480"/>
            <a:ext cx="347472" cy="347472"/>
          </a:xfrm>
          <a:prstGeom prst="ellipse">
            <a:avLst/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2697480"/>
            <a:ext cx="800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HTML5 frontend enabling non-technical users to detect fake news instantly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246120"/>
            <a:ext cx="347472" cy="347472"/>
          </a:xfrm>
          <a:prstGeom prst="ellipse">
            <a:avLst/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246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3246120"/>
            <a:ext cx="800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Complete, reproducible codebase with 20+ commits hosted on GitHub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" y="3858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 &amp; Future Work: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4187952"/>
            <a:ext cx="2788920" cy="347472"/>
          </a:xfrm>
          <a:prstGeom prst="rect">
            <a:avLst/>
          </a:prstGeom>
          <a:solidFill>
            <a:srgbClr val="162236"/>
          </a:solidFill>
          <a:ln w="6350">
            <a:solidFill>
              <a:srgbClr val="F4C8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18795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English-only (→ multilingual BERT)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46120" y="4187952"/>
            <a:ext cx="2788920" cy="347472"/>
          </a:xfrm>
          <a:prstGeom prst="rect">
            <a:avLst/>
          </a:prstGeom>
          <a:solidFill>
            <a:srgbClr val="162236"/>
          </a:solidFill>
          <a:ln w="6350">
            <a:solidFill>
              <a:srgbClr val="F4C8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418795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Dataset bias (→ diverse training sets)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72200" y="4187952"/>
            <a:ext cx="2788920" cy="347472"/>
          </a:xfrm>
          <a:prstGeom prst="rect">
            <a:avLst/>
          </a:prstGeom>
          <a:solidFill>
            <a:srgbClr val="162236"/>
          </a:solidFill>
          <a:ln w="6350">
            <a:solidFill>
              <a:srgbClr val="F4C8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418795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CPU-only speed (→ GPU + real-time pipeline)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4599432"/>
            <a:ext cx="2788920" cy="347472"/>
          </a:xfrm>
          <a:prstGeom prst="rect">
            <a:avLst/>
          </a:prstGeom>
          <a:solidFill>
            <a:srgbClr val="162236"/>
          </a:solidFill>
          <a:ln w="6350">
            <a:solidFill>
              <a:srgbClr val="F4C8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5994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 multimodal (→ image + text fusion)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46120" y="4599432"/>
            <a:ext cx="2788920" cy="347472"/>
          </a:xfrm>
          <a:prstGeom prst="rect">
            <a:avLst/>
          </a:prstGeom>
          <a:solidFill>
            <a:srgbClr val="162236"/>
          </a:solidFill>
          <a:ln w="6350">
            <a:solidFill>
              <a:srgbClr val="F4C8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45994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 live monitoring (→ NewsAPI integration)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Societal Impact &amp; Ethical Considerations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FactGuard Matters Beyond Accuracy Numbers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16052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E9E8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24128"/>
            <a:ext cx="4160520" cy="54864"/>
          </a:xfrm>
          <a:prstGeom prst="rect">
            <a:avLst/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155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Fighting Misinformation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499616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systems can process thousands of articles/hour — far faster than manual fact-checkers. Fake news has influenced elections, vaccine behaviour &amp; financial markets.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024128"/>
            <a:ext cx="416052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24128"/>
            <a:ext cx="41605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1155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Democratising Media Literacy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499616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visualizations teach users to recognize manipulative language — educational function especially vital in regions with limited fact-checking organizations.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743200"/>
            <a:ext cx="416052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743200"/>
            <a:ext cx="416052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8346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Broader Applications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321868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moderation • Journalism fact-verification • Government counter-disinformation • Healthcare medical misinformation • Educational information literacy tools.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743200"/>
            <a:ext cx="416052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743200"/>
            <a:ext cx="4160520" cy="5486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8346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Ethical Responsibilities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321868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decision making • No autonomous censorship • Bias audits required • Adversarial robustness through continuous red-teaming.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4370832"/>
            <a:ext cx="859536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42569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FactGuard is technically sound, socially relevant, and ethically considered — a model for responsible AI in the information ecosystem.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E9E8F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640080"/>
            <a:ext cx="2743200" cy="2743200"/>
          </a:xfrm>
          <a:prstGeom prst="ellipse">
            <a:avLst/>
          </a:prstGeom>
          <a:solidFill>
            <a:srgbClr val="0E9E8F">
              <a:alpha val="12000"/>
            </a:srgbClr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1097280"/>
            <a:ext cx="1828800" cy="1828800"/>
          </a:xfrm>
          <a:prstGeom prst="ellipse">
            <a:avLst/>
          </a:prstGeom>
          <a:solidFill>
            <a:srgbClr val="0E9E8F">
              <a:alpha val="22000"/>
            </a:srgbClr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2344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914400" y="239572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 spc="300" dirty="0">
                <a:solidFill>
                  <a:srgbClr val="0E9E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FACTGUARD  |  Team S3-T16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852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Saurabh Kumar Singh  •  Abhishek Khaiwal  •  Pulkith Sai Raj  •  Khoushik Vadde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1638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D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Susmita Das  |  CSET419 – Generative AI  |  Bennett University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3611880"/>
            <a:ext cx="3657600" cy="502920"/>
          </a:xfrm>
          <a:prstGeom prst="rect">
            <a:avLst/>
          </a:prstGeom>
          <a:solidFill>
            <a:srgbClr val="162236"/>
          </a:solidFill>
          <a:ln w="12700">
            <a:solidFill>
              <a:srgbClr val="0E9E8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0" y="3611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https://github.com/PULAKITH-45/Factguard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3708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D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1512</Words>
  <Application>Microsoft Office PowerPoint</Application>
  <PresentationFormat>On-screen Show (16:9)</PresentationFormat>
  <Paragraphs>325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FactGuard - AI-Powered Fake News Detection System</dc:title>
  <dc:subject>PptxGenJS Presentation</dc:subject>
  <dc:creator>PptxGenJS</dc:creator>
  <cp:lastModifiedBy>Abhishek Khaiwal</cp:lastModifiedBy>
  <cp:revision>2</cp:revision>
  <dcterms:created xsi:type="dcterms:W3CDTF">2026-04-22T18:18:23Z</dcterms:created>
  <dcterms:modified xsi:type="dcterms:W3CDTF">2026-04-22T18:33:03Z</dcterms:modified>
</cp:coreProperties>
</file>